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8" r:id="rId3"/>
    <p:sldId id="278" r:id="rId4"/>
    <p:sldId id="288" r:id="rId5"/>
    <p:sldId id="289" r:id="rId6"/>
    <p:sldId id="296" r:id="rId7"/>
    <p:sldId id="268" r:id="rId8"/>
    <p:sldId id="260" r:id="rId9"/>
    <p:sldId id="285" r:id="rId10"/>
    <p:sldId id="263" r:id="rId11"/>
    <p:sldId id="264" r:id="rId12"/>
    <p:sldId id="287" r:id="rId13"/>
    <p:sldId id="290" r:id="rId14"/>
    <p:sldId id="291" r:id="rId15"/>
    <p:sldId id="292" r:id="rId16"/>
    <p:sldId id="293" r:id="rId17"/>
    <p:sldId id="294" r:id="rId18"/>
    <p:sldId id="273" r:id="rId19"/>
    <p:sldId id="274" r:id="rId20"/>
    <p:sldId id="259" r:id="rId21"/>
  </p:sldIdLst>
  <p:sldSz cx="12192000" cy="6858000"/>
  <p:notesSz cx="6858000" cy="9144000"/>
  <p:embeddedFontLst>
    <p:embeddedFont>
      <p:font typeface="Libre Baskerville" panose="02000000000000000000" pitchFamily="2" charset="0"/>
      <p:regular r:id="rId23"/>
      <p:bold r:id="rId24"/>
      <p: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78" d="100"/>
          <a:sy n="78" d="100"/>
        </p:scale>
        <p:origin x="71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9832"/>
            <a:ext cx="12191408" cy="6858000"/>
          </a:xfrm>
          <a:prstGeom prst="rect">
            <a:avLst/>
          </a:prstGeom>
          <a:noFill/>
          <a:ln>
            <a:noFill/>
          </a:ln>
        </p:spPr>
      </p:pic>
      <p:sp>
        <p:nvSpPr>
          <p:cNvPr id="99" name="Google Shape;99;p1"/>
          <p:cNvSpPr txBox="1"/>
          <p:nvPr/>
        </p:nvSpPr>
        <p:spPr>
          <a:xfrm>
            <a:off x="2472905" y="3438832"/>
            <a:ext cx="7246189" cy="172350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endParaRPr lang="en-US" sz="1800" b="1" dirty="0">
              <a:solidFill>
                <a:srgbClr val="FF0000"/>
              </a:solidFill>
              <a:latin typeface="Times New Roman" panose="02020603050405020304" pitchFamily="18" charset="0"/>
              <a:ea typeface="Calibri"/>
              <a:cs typeface="Times New Roman" panose="02020603050405020304" pitchFamily="18" charset="0"/>
              <a:sym typeface="Calibri"/>
            </a:endParaRPr>
          </a:p>
          <a:p>
            <a:pPr lvl="0" algn="ctr">
              <a:buSzPts val="1800"/>
            </a:pPr>
            <a:r>
              <a:rPr lang="en-IN" sz="4400" b="1" dirty="0">
                <a:solidFill>
                  <a:srgbClr val="FF0000"/>
                </a:solidFill>
                <a:latin typeface="Times New Roman" panose="02020603050405020304" pitchFamily="18" charset="0"/>
                <a:cs typeface="Times New Roman" panose="02020603050405020304" pitchFamily="18" charset="0"/>
              </a:rPr>
              <a:t>Energy Consumption Analysis</a:t>
            </a:r>
            <a:endParaRPr sz="4400" b="1" i="0" u="none" strike="noStrike" cap="none" dirty="0">
              <a:solidFill>
                <a:srgbClr val="FF0000"/>
              </a:solidFill>
              <a:latin typeface="Times New Roman" panose="02020603050405020304" pitchFamily="18" charset="0"/>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C975FEAF-3190-9F3D-E806-179B845FAA05}"/>
              </a:ext>
            </a:extLst>
          </p:cNvPr>
          <p:cNvSpPr txBox="1"/>
          <p:nvPr/>
        </p:nvSpPr>
        <p:spPr>
          <a:xfrm>
            <a:off x="8578552" y="4916689"/>
            <a:ext cx="3716594" cy="1323439"/>
          </a:xfrm>
          <a:prstGeom prst="rect">
            <a:avLst/>
          </a:prstGeom>
          <a:noFill/>
        </p:spPr>
        <p:txBody>
          <a:bodyPr wrap="square" rtlCol="0">
            <a:spAutoFit/>
          </a:bodyPr>
          <a:lstStyle/>
          <a:p>
            <a:pPr>
              <a:lnSpc>
                <a:spcPct val="150000"/>
              </a:lnSpc>
            </a:pPr>
            <a:r>
              <a:rPr lang="en-IN" sz="2400" b="1" dirty="0">
                <a:solidFill>
                  <a:srgbClr val="FF0000"/>
                </a:solidFill>
                <a:latin typeface="Times New Roman" panose="02020603050405020304" pitchFamily="18" charset="0"/>
                <a:cs typeface="Times New Roman" panose="02020603050405020304" pitchFamily="18" charset="0"/>
              </a:rPr>
              <a:t>Presented By:</a:t>
            </a:r>
          </a:p>
          <a:p>
            <a:r>
              <a:rPr lang="en-IN" sz="2200" b="1" dirty="0">
                <a:latin typeface="Times New Roman" panose="02020603050405020304" pitchFamily="18" charset="0"/>
                <a:cs typeface="Times New Roman" panose="02020603050405020304" pitchFamily="18" charset="0"/>
              </a:rPr>
              <a:t> </a:t>
            </a:r>
            <a:r>
              <a:rPr lang="en-IN" sz="2200" b="1" dirty="0" err="1">
                <a:latin typeface="Times New Roman" panose="02020603050405020304" pitchFamily="18" charset="0"/>
                <a:cs typeface="Times New Roman" panose="02020603050405020304" pitchFamily="18" charset="0"/>
              </a:rPr>
              <a:t>K.Rohith</a:t>
            </a:r>
            <a:r>
              <a:rPr lang="en-IN" sz="2200" b="1" dirty="0">
                <a:latin typeface="Times New Roman" panose="02020603050405020304" pitchFamily="18" charset="0"/>
                <a:cs typeface="Times New Roman" panose="02020603050405020304" pitchFamily="18" charset="0"/>
              </a:rPr>
              <a:t> Reddy</a:t>
            </a:r>
          </a:p>
          <a:p>
            <a:endParaRPr lang="en-IN" sz="2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759078" y="344128"/>
            <a:ext cx="10515600" cy="82591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latin typeface="Times New Roman" panose="02020603050405020304" pitchFamily="18" charset="0"/>
                <a:cs typeface="Times New Roman" panose="02020603050405020304" pitchFamily="18" charset="0"/>
              </a:rPr>
              <a:t>Agenda</a:t>
            </a:r>
            <a:endParaRPr b="1"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p:cNvSpPr txBox="1">
            <a:spLocks noGrp="1"/>
          </p:cNvSpPr>
          <p:nvPr>
            <p:ph type="body" idx="1"/>
          </p:nvPr>
        </p:nvSpPr>
        <p:spPr>
          <a:xfrm>
            <a:off x="759078" y="1375147"/>
            <a:ext cx="10515600" cy="4777234"/>
          </a:xfrm>
          <a:prstGeom prst="rect">
            <a:avLst/>
          </a:prstGeom>
          <a:noFill/>
          <a:ln>
            <a:noFill/>
          </a:ln>
        </p:spPr>
        <p:txBody>
          <a:bodyPr spcFirstLastPara="1" wrap="square" lIns="91425" tIns="45700" rIns="91425" bIns="45700" anchor="t" anchorCtr="0">
            <a:normAutofit fontScale="92500" lnSpcReduction="10000"/>
          </a:bodyPr>
          <a:lstStyle/>
          <a:p>
            <a:pPr indent="-431800">
              <a:buSzPts val="2400"/>
            </a:pPr>
            <a:r>
              <a:rPr lang="en-US" sz="2400" b="1" dirty="0">
                <a:solidFill>
                  <a:schemeClr val="tx1"/>
                </a:solidFill>
                <a:latin typeface="Times New Roman" panose="02020603050405020304" pitchFamily="18" charset="0"/>
                <a:cs typeface="Times New Roman" panose="02020603050405020304" pitchFamily="18" charset="0"/>
              </a:rPr>
              <a:t>Business Problem</a:t>
            </a:r>
            <a:endParaRPr lang="en-IN" sz="2400" b="1" dirty="0">
              <a:solidFill>
                <a:schemeClr val="tx1"/>
              </a:solidFill>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Introduction</a:t>
            </a: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Problem Statement</a:t>
            </a: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Objective of the Project</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ER Diagram and schema explanation</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Key analysis questions (use cases)</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SQL query results with screenshots or summaries</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Key Insights  </a:t>
            </a: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Recommendations</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Conclusion  </a:t>
            </a:r>
          </a:p>
          <a:p>
            <a:pPr indent="-431800">
              <a:buSzPts val="2400"/>
            </a:pPr>
            <a:r>
              <a:rPr lang="en-IN" sz="2400" b="1" dirty="0">
                <a:latin typeface="Times New Roman" panose="02020603050405020304" pitchFamily="18" charset="0"/>
                <a:cs typeface="Times New Roman" panose="02020603050405020304" pitchFamily="18" charset="0"/>
              </a:rPr>
              <a:t>Q&amp;A Slide </a:t>
            </a:r>
            <a:endParaRPr lang="en-IN"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endParaRPr sz="2400" dirty="0"/>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A7B10-4512-3F9D-A565-BF90387DFB63}"/>
              </a:ext>
            </a:extLst>
          </p:cNvPr>
          <p:cNvSpPr>
            <a:spLocks noGrp="1"/>
          </p:cNvSpPr>
          <p:nvPr>
            <p:ph type="title"/>
          </p:nvPr>
        </p:nvSpPr>
        <p:spPr>
          <a:xfrm>
            <a:off x="147484" y="3249560"/>
            <a:ext cx="10515600" cy="437537"/>
          </a:xfrm>
        </p:spPr>
        <p:txBody>
          <a:bodyPr>
            <a:noAutofit/>
          </a:bodyPr>
          <a:lstStyle/>
          <a:p>
            <a:r>
              <a:rPr lang="en-IN" sz="4100" b="1" dirty="0">
                <a:solidFill>
                  <a:srgbClr val="FF0000"/>
                </a:solidFill>
                <a:latin typeface="Times New Roman" panose="02020603050405020304" pitchFamily="18" charset="0"/>
                <a:cs typeface="Times New Roman" panose="02020603050405020304" pitchFamily="18" charset="0"/>
              </a:rPr>
              <a:t>Introduction</a:t>
            </a:r>
          </a:p>
        </p:txBody>
      </p:sp>
      <p:sp>
        <p:nvSpPr>
          <p:cNvPr id="3" name="Text Placeholder 2">
            <a:extLst>
              <a:ext uri="{FF2B5EF4-FFF2-40B4-BE49-F238E27FC236}">
                <a16:creationId xmlns:a16="http://schemas.microsoft.com/office/drawing/2014/main" id="{25B5F97A-80E5-0B83-261D-770983D2CFD1}"/>
              </a:ext>
            </a:extLst>
          </p:cNvPr>
          <p:cNvSpPr>
            <a:spLocks noGrp="1"/>
          </p:cNvSpPr>
          <p:nvPr>
            <p:ph type="body" idx="1"/>
          </p:nvPr>
        </p:nvSpPr>
        <p:spPr>
          <a:xfrm>
            <a:off x="0" y="3687097"/>
            <a:ext cx="11700387" cy="4041058"/>
          </a:xfrm>
        </p:spPr>
        <p:txBody>
          <a:bodyPr>
            <a:normAutofit/>
          </a:bodyPr>
          <a:lstStyle/>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Energy plays a critical role in the economic and social development of countries. As nations grow in terms of GDP and population, their demand for energy increases, which often leads to higher carbon emissions.</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This project analyzes global energy consumption, energy production, GDP, population, and carbon emission data across multiple countries over different years. The aim is to understand how economic growth and population expansion impact energy usage and environmental sustainability.</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By studying these relationships, we can identify trends, compare countries, and evaluate whether growth is occurring in a sustainable manner.</a:t>
            </a:r>
          </a:p>
          <a:p>
            <a:pPr marL="114300" indent="0">
              <a:lnSpc>
                <a:spcPct val="150000"/>
              </a:lnSpc>
              <a:buNone/>
            </a:pPr>
            <a:endParaRPr lang="en-IN" sz="2200" b="1" dirty="0">
              <a:latin typeface="Times New Roman" panose="02020603050405020304" pitchFamily="18" charset="0"/>
              <a:cs typeface="Times New Roman" panose="02020603050405020304" pitchFamily="18" charset="0"/>
            </a:endParaRPr>
          </a:p>
        </p:txBody>
      </p:sp>
      <p:sp>
        <p:nvSpPr>
          <p:cNvPr id="4" name="Text Placeholder 2">
            <a:extLst>
              <a:ext uri="{FF2B5EF4-FFF2-40B4-BE49-F238E27FC236}">
                <a16:creationId xmlns:a16="http://schemas.microsoft.com/office/drawing/2014/main" id="{E1D6B308-6218-8F2A-9BD0-C757C50B10A7}"/>
              </a:ext>
            </a:extLst>
          </p:cNvPr>
          <p:cNvSpPr txBox="1">
            <a:spLocks/>
          </p:cNvSpPr>
          <p:nvPr/>
        </p:nvSpPr>
        <p:spPr>
          <a:xfrm>
            <a:off x="147484" y="233054"/>
            <a:ext cx="11700387" cy="2797737"/>
          </a:xfrm>
          <a:prstGeom prst="rect">
            <a:avLst/>
          </a:prstGeom>
          <a:noFill/>
          <a:ln>
            <a:noFill/>
          </a:ln>
        </p:spPr>
        <p:txBody>
          <a:bodyPr spcFirstLastPara="1" wrap="square" lIns="91425" tIns="45700" rIns="91425" bIns="45700" anchor="t" anchorCtr="0">
            <a:normAutofit fontScale="92500" lnSpcReduction="2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buNone/>
            </a:pPr>
            <a:r>
              <a:rPr lang="en-US" sz="4400" b="1" dirty="0">
                <a:solidFill>
                  <a:srgbClr val="FF0000"/>
                </a:solidFill>
                <a:latin typeface="Times New Roman" panose="02020603050405020304" pitchFamily="18" charset="0"/>
                <a:cs typeface="Times New Roman" panose="02020603050405020304" pitchFamily="18" charset="0"/>
              </a:rPr>
              <a:t>Business Problem</a:t>
            </a:r>
          </a:p>
          <a:p>
            <a:pPr>
              <a:lnSpc>
                <a:spcPct val="150000"/>
              </a:lnSpc>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Economic growth and population increase lead to higher energy consumption.</a:t>
            </a:r>
          </a:p>
          <a:p>
            <a:pPr>
              <a:lnSpc>
                <a:spcPct val="150000"/>
              </a:lnSpc>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Higher energy usage often results in increased carbon emissions.</a:t>
            </a:r>
          </a:p>
          <a:p>
            <a:pPr>
              <a:lnSpc>
                <a:spcPct val="150000"/>
              </a:lnSpc>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The challenge is to understand the relationship between GDP, population, energy use, and emissions.</a:t>
            </a:r>
          </a:p>
          <a:p>
            <a:pPr>
              <a:lnSpc>
                <a:spcPct val="150000"/>
              </a:lnSpc>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The goal is to identify whether countries are growing in a sustainable way.</a:t>
            </a:r>
          </a:p>
        </p:txBody>
      </p:sp>
    </p:spTree>
    <p:extLst>
      <p:ext uri="{BB962C8B-B14F-4D97-AF65-F5344CB8AC3E}">
        <p14:creationId xmlns:p14="http://schemas.microsoft.com/office/powerpoint/2010/main" val="1237825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C4896-151A-8AA0-777A-291D04F4B740}"/>
              </a:ext>
            </a:extLst>
          </p:cNvPr>
          <p:cNvSpPr>
            <a:spLocks noGrp="1"/>
          </p:cNvSpPr>
          <p:nvPr>
            <p:ph type="title"/>
          </p:nvPr>
        </p:nvSpPr>
        <p:spPr>
          <a:xfrm>
            <a:off x="189270" y="286467"/>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Problem Statement:-</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DF86133-EE7D-9EBC-D169-516E3057588C}"/>
              </a:ext>
            </a:extLst>
          </p:cNvPr>
          <p:cNvSpPr>
            <a:spLocks noGrp="1"/>
          </p:cNvSpPr>
          <p:nvPr>
            <p:ph type="body" idx="1"/>
          </p:nvPr>
        </p:nvSpPr>
        <p:spPr>
          <a:xfrm>
            <a:off x="376083" y="1612030"/>
            <a:ext cx="10515600" cy="4486275"/>
          </a:xfrm>
        </p:spPr>
        <p:txBody>
          <a:bodyPr>
            <a:normAutofit/>
          </a:bodyPr>
          <a:lstStyle/>
          <a:p>
            <a:pPr marL="114300" indent="0">
              <a:buNone/>
            </a:pPr>
            <a:r>
              <a:rPr lang="en-US" dirty="0">
                <a:latin typeface="Times New Roman" panose="02020603050405020304" pitchFamily="18" charset="0"/>
                <a:cs typeface="Times New Roman" panose="02020603050405020304" pitchFamily="18" charset="0"/>
              </a:rPr>
              <a:t>The purpose of this project is to study how economic growth and population growth influence energy consumption and carbon emissions across different countries over the years.</a:t>
            </a:r>
          </a:p>
          <a:p>
            <a:r>
              <a:rPr lang="en-US" dirty="0">
                <a:latin typeface="Times New Roman" panose="02020603050405020304" pitchFamily="18" charset="0"/>
                <a:cs typeface="Times New Roman" panose="02020603050405020304" pitchFamily="18" charset="0"/>
              </a:rPr>
              <a:t>The analysis aims to:</a:t>
            </a:r>
          </a:p>
          <a:p>
            <a:r>
              <a:rPr lang="en-US" dirty="0">
                <a:latin typeface="Times New Roman" panose="02020603050405020304" pitchFamily="18" charset="0"/>
                <a:cs typeface="Times New Roman" panose="02020603050405020304" pitchFamily="18" charset="0"/>
              </a:rPr>
              <a:t>Compare energy production and consumption among countries</a:t>
            </a:r>
          </a:p>
          <a:p>
            <a:r>
              <a:rPr lang="en-US" dirty="0">
                <a:latin typeface="Times New Roman" panose="02020603050405020304" pitchFamily="18" charset="0"/>
                <a:cs typeface="Times New Roman" panose="02020603050405020304" pitchFamily="18" charset="0"/>
              </a:rPr>
              <a:t>Identify high-emission countries</a:t>
            </a:r>
          </a:p>
          <a:p>
            <a:r>
              <a:rPr lang="en-US" dirty="0">
                <a:latin typeface="Times New Roman" panose="02020603050405020304" pitchFamily="18" charset="0"/>
                <a:cs typeface="Times New Roman" panose="02020603050405020304" pitchFamily="18" charset="0"/>
              </a:rPr>
              <a:t>Understand trends in emissions over time</a:t>
            </a:r>
          </a:p>
          <a:p>
            <a:r>
              <a:rPr lang="en-US" dirty="0">
                <a:latin typeface="Times New Roman" panose="02020603050405020304" pitchFamily="18" charset="0"/>
                <a:cs typeface="Times New Roman" panose="02020603050405020304" pitchFamily="18" charset="0"/>
              </a:rPr>
              <a:t>Examine whether economic growth is linked to increased pollution</a:t>
            </a:r>
          </a:p>
        </p:txBody>
      </p:sp>
    </p:spTree>
    <p:extLst>
      <p:ext uri="{BB962C8B-B14F-4D97-AF65-F5344CB8AC3E}">
        <p14:creationId xmlns:p14="http://schemas.microsoft.com/office/powerpoint/2010/main" val="3174306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7B99E-CD46-40CA-24F7-D74513CB46EC}"/>
              </a:ext>
            </a:extLst>
          </p:cNvPr>
          <p:cNvSpPr>
            <a:spLocks noGrp="1"/>
          </p:cNvSpPr>
          <p:nvPr>
            <p:ph type="title"/>
          </p:nvPr>
        </p:nvSpPr>
        <p:spPr>
          <a:xfrm>
            <a:off x="314632" y="443783"/>
            <a:ext cx="10515600" cy="1325563"/>
          </a:xfrm>
        </p:spPr>
        <p:txBody>
          <a:bodyPr/>
          <a:lstStyle/>
          <a:p>
            <a:r>
              <a:rPr lang="en-IN" b="1" dirty="0">
                <a:solidFill>
                  <a:srgbClr val="FF0000"/>
                </a:solidFill>
                <a:latin typeface="Times New Roman" panose="02020603050405020304" pitchFamily="18" charset="0"/>
                <a:cs typeface="Times New Roman" panose="02020603050405020304" pitchFamily="18" charset="0"/>
              </a:rPr>
              <a:t>Objective of the Project</a:t>
            </a:r>
            <a:endParaRPr lang="en-IN" dirty="0"/>
          </a:p>
        </p:txBody>
      </p:sp>
      <p:sp>
        <p:nvSpPr>
          <p:cNvPr id="4" name="Rectangle 1">
            <a:extLst>
              <a:ext uri="{FF2B5EF4-FFF2-40B4-BE49-F238E27FC236}">
                <a16:creationId xmlns:a16="http://schemas.microsoft.com/office/drawing/2014/main" id="{8E9179C3-712F-0F3D-774A-7726367DB5E8}"/>
              </a:ext>
            </a:extLst>
          </p:cNvPr>
          <p:cNvSpPr>
            <a:spLocks noGrp="1" noChangeArrowheads="1"/>
          </p:cNvSpPr>
          <p:nvPr>
            <p:ph type="body" idx="1"/>
          </p:nvPr>
        </p:nvSpPr>
        <p:spPr bwMode="auto">
          <a:xfrm>
            <a:off x="282677" y="1694213"/>
            <a:ext cx="11770565"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indent="-457200" eaLnBrk="0" fontAlgn="base" hangingPunct="0">
              <a:lnSpc>
                <a:spcPct val="150000"/>
              </a:lnSpc>
              <a:spcBef>
                <a:spcPct val="0"/>
              </a:spcBef>
              <a:spcAft>
                <a:spcPct val="0"/>
              </a:spcAft>
              <a:buClrTx/>
              <a:buSzTx/>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compare energy consumption and production across different countries.</a:t>
            </a:r>
          </a:p>
          <a:p>
            <a:pPr lvl="0" indent="-457200" eaLnBrk="0" fontAlgn="base" hangingPunct="0">
              <a:lnSpc>
                <a:spcPct val="150000"/>
              </a:lnSpc>
              <a:spcBef>
                <a:spcPct val="0"/>
              </a:spcBef>
              <a:spcAft>
                <a:spcPct val="0"/>
              </a:spcAft>
              <a:buClrTx/>
              <a:buSzTx/>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analyze carbon emission trends over the years.</a:t>
            </a:r>
          </a:p>
          <a:p>
            <a:pPr lvl="0" indent="-457200" eaLnBrk="0" fontAlgn="base" hangingPunct="0">
              <a:lnSpc>
                <a:spcPct val="150000"/>
              </a:lnSpc>
              <a:spcBef>
                <a:spcPct val="0"/>
              </a:spcBef>
              <a:spcAft>
                <a:spcPct val="0"/>
              </a:spcAft>
              <a:buClrTx/>
              <a:buSzTx/>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study the relationship between GDP growth and energy usage.</a:t>
            </a:r>
          </a:p>
          <a:p>
            <a:pPr lvl="0" indent="-457200" eaLnBrk="0" fontAlgn="base" hangingPunct="0">
              <a:lnSpc>
                <a:spcPct val="150000"/>
              </a:lnSpc>
              <a:spcBef>
                <a:spcPct val="0"/>
              </a:spcBef>
              <a:spcAft>
                <a:spcPct val="0"/>
              </a:spcAft>
              <a:buClrTx/>
              <a:buSzTx/>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examine how population growth impacts total emissions.</a:t>
            </a:r>
          </a:p>
          <a:p>
            <a:pPr lvl="0" indent="-457200" eaLnBrk="0" fontAlgn="base" hangingPunct="0">
              <a:lnSpc>
                <a:spcPct val="150000"/>
              </a:lnSpc>
              <a:spcBef>
                <a:spcPct val="0"/>
              </a:spcBef>
              <a:spcAft>
                <a:spcPct val="0"/>
              </a:spcAft>
              <a:buClrTx/>
              <a:buSzTx/>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identify countries with high emissions relative to their economic size.</a:t>
            </a:r>
          </a:p>
          <a:p>
            <a:pPr lvl="0" indent="-457200" eaLnBrk="0" fontAlgn="base" hangingPunct="0">
              <a:lnSpc>
                <a:spcPct val="150000"/>
              </a:lnSpc>
              <a:spcBef>
                <a:spcPct val="0"/>
              </a:spcBef>
              <a:spcAft>
                <a:spcPct val="0"/>
              </a:spcAft>
              <a:buClrTx/>
              <a:buSzTx/>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evaluate sustainability trends using per-capita analysis</a:t>
            </a:r>
            <a:r>
              <a:rPr lang="en-US" dirty="0"/>
              <a: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FontTx/>
              <a:buChar char="•"/>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8466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63FC6-0BE7-D017-E485-2DDF4258554A}"/>
              </a:ext>
            </a:extLst>
          </p:cNvPr>
          <p:cNvSpPr>
            <a:spLocks noGrp="1"/>
          </p:cNvSpPr>
          <p:nvPr>
            <p:ph type="title"/>
          </p:nvPr>
        </p:nvSpPr>
        <p:spPr>
          <a:xfrm>
            <a:off x="98323" y="358161"/>
            <a:ext cx="4418064" cy="629264"/>
          </a:xfrm>
        </p:spPr>
        <p:txBody>
          <a:bodyPr>
            <a:noAutofit/>
          </a:bodyPr>
          <a:lstStyle/>
          <a:p>
            <a:r>
              <a:rPr lang="en-US" sz="4400" b="1" dirty="0">
                <a:solidFill>
                  <a:srgbClr val="FF0000"/>
                </a:solidFill>
                <a:latin typeface="Times New Roman" panose="02020603050405020304" pitchFamily="18" charset="0"/>
                <a:cs typeface="Times New Roman" panose="02020603050405020304" pitchFamily="18" charset="0"/>
              </a:rPr>
              <a:t>Database Schema</a:t>
            </a:r>
            <a:endParaRPr lang="en-IN" sz="4400" b="1"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43B41B3-3BF7-5EC7-7129-B07408E1ED64}"/>
              </a:ext>
            </a:extLst>
          </p:cNvPr>
          <p:cNvSpPr>
            <a:spLocks noGrp="1"/>
          </p:cNvSpPr>
          <p:nvPr>
            <p:ph type="body" idx="1"/>
          </p:nvPr>
        </p:nvSpPr>
        <p:spPr>
          <a:xfrm>
            <a:off x="98323" y="800613"/>
            <a:ext cx="11975690" cy="1736109"/>
          </a:xfrm>
        </p:spPr>
        <p:txBody>
          <a:bodyPr>
            <a:noAutofit/>
          </a:bodyPr>
          <a:lstStyle/>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database contains six tables: country, emission_3, production, consumption, gdp_3, and population.</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country table acts as the central table, and all other tables are linked to it using foreign keys.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country has multiple records across different years, creating one-to-many relationships.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structure is normalized to maintain data integrity and support efficient time-based analysis.</a:t>
            </a:r>
            <a:endParaRPr lang="en-IN" sz="2400"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32B6A56A-BAF8-36E4-207D-120C9D794BD0}"/>
              </a:ext>
            </a:extLst>
          </p:cNvPr>
          <p:cNvSpPr>
            <a:spLocks noGrp="1"/>
          </p:cNvSpPr>
          <p:nvPr>
            <p:ph type="body" idx="2"/>
          </p:nvPr>
        </p:nvSpPr>
        <p:spPr>
          <a:xfrm>
            <a:off x="98323" y="3598606"/>
            <a:ext cx="11040756" cy="3185651"/>
          </a:xfrm>
        </p:spPr>
        <p:txBody>
          <a:bodyPr>
            <a:normAutofit/>
          </a:bodyPr>
          <a:lstStyle/>
          <a:p>
            <a:r>
              <a:rPr lang="en-US" sz="2800" b="1" dirty="0">
                <a:latin typeface="Times New Roman" panose="02020603050405020304" pitchFamily="18" charset="0"/>
                <a:cs typeface="Times New Roman" panose="02020603050405020304" pitchFamily="18" charset="0"/>
              </a:rPr>
              <a:t>One-to-Many Relationship </a:t>
            </a:r>
          </a:p>
          <a:p>
            <a:r>
              <a:rPr lang="en-US" sz="2400" dirty="0">
                <a:latin typeface="Times New Roman" panose="02020603050405020304" pitchFamily="18" charset="0"/>
                <a:cs typeface="Times New Roman" panose="02020603050405020304" pitchFamily="18" charset="0"/>
              </a:rPr>
              <a:t>One country → Many emission records</a:t>
            </a:r>
          </a:p>
          <a:p>
            <a:r>
              <a:rPr lang="en-US" sz="2400" dirty="0">
                <a:latin typeface="Times New Roman" panose="02020603050405020304" pitchFamily="18" charset="0"/>
                <a:cs typeface="Times New Roman" panose="02020603050405020304" pitchFamily="18" charset="0"/>
              </a:rPr>
              <a:t>One country → Many production records</a:t>
            </a:r>
          </a:p>
          <a:p>
            <a:r>
              <a:rPr lang="en-US" sz="2400" dirty="0">
                <a:latin typeface="Times New Roman" panose="02020603050405020304" pitchFamily="18" charset="0"/>
                <a:cs typeface="Times New Roman" panose="02020603050405020304" pitchFamily="18" charset="0"/>
              </a:rPr>
              <a:t>One country → Many consumption records</a:t>
            </a:r>
          </a:p>
          <a:p>
            <a:r>
              <a:rPr lang="en-US" sz="2400" dirty="0">
                <a:latin typeface="Times New Roman" panose="02020603050405020304" pitchFamily="18" charset="0"/>
                <a:cs typeface="Times New Roman" panose="02020603050405020304" pitchFamily="18" charset="0"/>
              </a:rPr>
              <a:t>One country → Many GDP records</a:t>
            </a:r>
          </a:p>
          <a:p>
            <a:r>
              <a:rPr lang="en-US" sz="2400" dirty="0">
                <a:latin typeface="Times New Roman" panose="02020603050405020304" pitchFamily="18" charset="0"/>
                <a:cs typeface="Times New Roman" panose="02020603050405020304" pitchFamily="18" charset="0"/>
              </a:rPr>
              <a:t>One country → Many population records</a:t>
            </a:r>
          </a:p>
          <a:p>
            <a:endParaRPr lang="en-IN" sz="4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2785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B7C63BB-BEA4-BD89-2664-1F0ACF4FE189}"/>
              </a:ext>
            </a:extLst>
          </p:cNvPr>
          <p:cNvSpPr txBox="1"/>
          <p:nvPr/>
        </p:nvSpPr>
        <p:spPr>
          <a:xfrm>
            <a:off x="452271" y="258549"/>
            <a:ext cx="4149226" cy="769441"/>
          </a:xfrm>
          <a:prstGeom prst="rect">
            <a:avLst/>
          </a:prstGeom>
          <a:noFill/>
        </p:spPr>
        <p:txBody>
          <a:bodyPr wrap="square" rtlCol="0">
            <a:spAutoFit/>
          </a:bodyPr>
          <a:lstStyle/>
          <a:p>
            <a:r>
              <a:rPr lang="en-US" sz="4400" b="1" dirty="0">
                <a:solidFill>
                  <a:srgbClr val="FF0000"/>
                </a:solidFill>
                <a:latin typeface="Times New Roman" panose="02020603050405020304" pitchFamily="18" charset="0"/>
                <a:cs typeface="Times New Roman" panose="02020603050405020304" pitchFamily="18" charset="0"/>
              </a:rPr>
              <a:t>ER Diagram </a:t>
            </a:r>
            <a:endParaRPr lang="en-IN" sz="44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D6E8FCE-B1B9-F381-0BC0-56FCBBF548E7}"/>
              </a:ext>
            </a:extLst>
          </p:cNvPr>
          <p:cNvPicPr>
            <a:picLocks noChangeAspect="1"/>
          </p:cNvPicPr>
          <p:nvPr/>
        </p:nvPicPr>
        <p:blipFill>
          <a:blip r:embed="rId2"/>
          <a:stretch>
            <a:fillRect/>
          </a:stretch>
        </p:blipFill>
        <p:spPr>
          <a:xfrm>
            <a:off x="602115" y="1386347"/>
            <a:ext cx="10999950" cy="5338918"/>
          </a:xfrm>
          <a:prstGeom prst="rect">
            <a:avLst/>
          </a:prstGeom>
        </p:spPr>
      </p:pic>
    </p:spTree>
    <p:extLst>
      <p:ext uri="{BB962C8B-B14F-4D97-AF65-F5344CB8AC3E}">
        <p14:creationId xmlns:p14="http://schemas.microsoft.com/office/powerpoint/2010/main" val="4241221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A2519A-CFE2-624C-CE4A-4BF39014DD52}"/>
              </a:ext>
            </a:extLst>
          </p:cNvPr>
          <p:cNvSpPr txBox="1"/>
          <p:nvPr/>
        </p:nvSpPr>
        <p:spPr>
          <a:xfrm>
            <a:off x="378487" y="189520"/>
            <a:ext cx="4129657" cy="584775"/>
          </a:xfrm>
          <a:prstGeom prst="rect">
            <a:avLst/>
          </a:prstGeom>
          <a:noFill/>
        </p:spPr>
        <p:txBody>
          <a:bodyPr wrap="square" rtlCol="0">
            <a:spAutoFit/>
          </a:bodyPr>
          <a:lstStyle/>
          <a:p>
            <a:r>
              <a:rPr lang="en-IN" sz="3200" b="1" dirty="0">
                <a:solidFill>
                  <a:srgbClr val="FF0000"/>
                </a:solidFill>
                <a:latin typeface="Times New Roman" panose="02020603050405020304" pitchFamily="18" charset="0"/>
                <a:cs typeface="Times New Roman" panose="02020603050405020304" pitchFamily="18" charset="0"/>
              </a:rPr>
              <a:t>Key analysis questions</a:t>
            </a: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176DF6C-448D-B9E8-73BD-F85AA1B06474}"/>
              </a:ext>
            </a:extLst>
          </p:cNvPr>
          <p:cNvSpPr txBox="1"/>
          <p:nvPr/>
        </p:nvSpPr>
        <p:spPr>
          <a:xfrm>
            <a:off x="88488" y="1017385"/>
            <a:ext cx="7364363"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 1.</a:t>
            </a:r>
            <a:r>
              <a:rPr lang="en-US" sz="2000" b="1" dirty="0">
                <a:latin typeface="Times New Roman" panose="02020603050405020304" pitchFamily="18" charset="0"/>
                <a:cs typeface="Times New Roman" panose="02020603050405020304" pitchFamily="18" charset="0"/>
              </a:rPr>
              <a:t>What are the top 5 countries by GDP in the most recent year?</a:t>
            </a:r>
            <a:endParaRPr lang="en-IN" sz="20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1127378-F372-69D3-FA4C-B826034C1D99}"/>
              </a:ext>
            </a:extLst>
          </p:cNvPr>
          <p:cNvPicPr>
            <a:picLocks noChangeAspect="1"/>
          </p:cNvPicPr>
          <p:nvPr/>
        </p:nvPicPr>
        <p:blipFill>
          <a:blip r:embed="rId2"/>
          <a:stretch>
            <a:fillRect/>
          </a:stretch>
        </p:blipFill>
        <p:spPr>
          <a:xfrm>
            <a:off x="378487" y="1966453"/>
            <a:ext cx="5648687" cy="2969342"/>
          </a:xfrm>
          <a:prstGeom prst="rect">
            <a:avLst/>
          </a:prstGeom>
        </p:spPr>
      </p:pic>
      <p:pic>
        <p:nvPicPr>
          <p:cNvPr id="6" name="Picture 5">
            <a:extLst>
              <a:ext uri="{FF2B5EF4-FFF2-40B4-BE49-F238E27FC236}">
                <a16:creationId xmlns:a16="http://schemas.microsoft.com/office/drawing/2014/main" id="{926093B3-FCB3-4727-5011-DBCE5B524CBB}"/>
              </a:ext>
            </a:extLst>
          </p:cNvPr>
          <p:cNvPicPr>
            <a:picLocks noChangeAspect="1"/>
          </p:cNvPicPr>
          <p:nvPr/>
        </p:nvPicPr>
        <p:blipFill>
          <a:blip r:embed="rId3"/>
          <a:stretch>
            <a:fillRect/>
          </a:stretch>
        </p:blipFill>
        <p:spPr>
          <a:xfrm>
            <a:off x="6813754" y="1759974"/>
            <a:ext cx="4218039" cy="2969342"/>
          </a:xfrm>
          <a:prstGeom prst="rect">
            <a:avLst/>
          </a:prstGeom>
        </p:spPr>
      </p:pic>
    </p:spTree>
    <p:extLst>
      <p:ext uri="{BB962C8B-B14F-4D97-AF65-F5344CB8AC3E}">
        <p14:creationId xmlns:p14="http://schemas.microsoft.com/office/powerpoint/2010/main" val="3550893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DA5B3E7-02E1-5AD5-1618-05F90638E076}"/>
              </a:ext>
            </a:extLst>
          </p:cNvPr>
          <p:cNvSpPr txBox="1"/>
          <p:nvPr/>
        </p:nvSpPr>
        <p:spPr>
          <a:xfrm>
            <a:off x="601102" y="575904"/>
            <a:ext cx="7968848"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 2.Compare energy production and consumption by country and year.?</a:t>
            </a:r>
            <a:endParaRPr lang="en-IN" sz="20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8C15C0C-C0DF-B603-C203-5CCFFF97DA9A}"/>
              </a:ext>
            </a:extLst>
          </p:cNvPr>
          <p:cNvPicPr>
            <a:picLocks noChangeAspect="1"/>
          </p:cNvPicPr>
          <p:nvPr/>
        </p:nvPicPr>
        <p:blipFill>
          <a:blip r:embed="rId2"/>
          <a:stretch>
            <a:fillRect/>
          </a:stretch>
        </p:blipFill>
        <p:spPr>
          <a:xfrm>
            <a:off x="432619" y="1435510"/>
            <a:ext cx="5004620" cy="3814916"/>
          </a:xfrm>
          <a:prstGeom prst="rect">
            <a:avLst/>
          </a:prstGeom>
        </p:spPr>
      </p:pic>
      <p:pic>
        <p:nvPicPr>
          <p:cNvPr id="10" name="Picture 9">
            <a:extLst>
              <a:ext uri="{FF2B5EF4-FFF2-40B4-BE49-F238E27FC236}">
                <a16:creationId xmlns:a16="http://schemas.microsoft.com/office/drawing/2014/main" id="{1735107B-065F-6821-D7E3-CF58A3CE6D2F}"/>
              </a:ext>
            </a:extLst>
          </p:cNvPr>
          <p:cNvPicPr>
            <a:picLocks noChangeAspect="1"/>
          </p:cNvPicPr>
          <p:nvPr/>
        </p:nvPicPr>
        <p:blipFill>
          <a:blip r:embed="rId3"/>
          <a:stretch>
            <a:fillRect/>
          </a:stretch>
        </p:blipFill>
        <p:spPr>
          <a:xfrm>
            <a:off x="6250289" y="2172929"/>
            <a:ext cx="5004620" cy="3077497"/>
          </a:xfrm>
          <a:prstGeom prst="rect">
            <a:avLst/>
          </a:prstGeom>
        </p:spPr>
      </p:pic>
    </p:spTree>
    <p:extLst>
      <p:ext uri="{BB962C8B-B14F-4D97-AF65-F5344CB8AC3E}">
        <p14:creationId xmlns:p14="http://schemas.microsoft.com/office/powerpoint/2010/main" val="165796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39D1E54-B72C-B3C3-3372-8ACFD262B4A9}"/>
              </a:ext>
            </a:extLst>
          </p:cNvPr>
          <p:cNvSpPr txBox="1"/>
          <p:nvPr/>
        </p:nvSpPr>
        <p:spPr>
          <a:xfrm>
            <a:off x="422784" y="438176"/>
            <a:ext cx="11621732" cy="498663"/>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3.Which energy types contribute most to emissions across all countries?</a:t>
            </a:r>
            <a:endParaRPr lang="en-IN" sz="20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97EC0AA-9110-4DB9-210B-0AD652EE5FF2}"/>
              </a:ext>
            </a:extLst>
          </p:cNvPr>
          <p:cNvPicPr>
            <a:picLocks noChangeAspect="1"/>
          </p:cNvPicPr>
          <p:nvPr/>
        </p:nvPicPr>
        <p:blipFill>
          <a:blip r:embed="rId2"/>
          <a:stretch>
            <a:fillRect/>
          </a:stretch>
        </p:blipFill>
        <p:spPr>
          <a:xfrm>
            <a:off x="550607" y="1563329"/>
            <a:ext cx="4817807" cy="3588775"/>
          </a:xfrm>
          <a:prstGeom prst="rect">
            <a:avLst/>
          </a:prstGeom>
        </p:spPr>
      </p:pic>
      <p:pic>
        <p:nvPicPr>
          <p:cNvPr id="6" name="Picture 5">
            <a:extLst>
              <a:ext uri="{FF2B5EF4-FFF2-40B4-BE49-F238E27FC236}">
                <a16:creationId xmlns:a16="http://schemas.microsoft.com/office/drawing/2014/main" id="{9DD3C803-6B6E-B6FC-EC3C-53AB2F86D9D6}"/>
              </a:ext>
            </a:extLst>
          </p:cNvPr>
          <p:cNvPicPr>
            <a:picLocks noChangeAspect="1"/>
          </p:cNvPicPr>
          <p:nvPr/>
        </p:nvPicPr>
        <p:blipFill>
          <a:blip r:embed="rId3"/>
          <a:stretch>
            <a:fillRect/>
          </a:stretch>
        </p:blipFill>
        <p:spPr>
          <a:xfrm>
            <a:off x="5968180" y="1750142"/>
            <a:ext cx="5574891" cy="3047485"/>
          </a:xfrm>
          <a:prstGeom prst="rect">
            <a:avLst/>
          </a:prstGeom>
        </p:spPr>
      </p:pic>
    </p:spTree>
    <p:extLst>
      <p:ext uri="{BB962C8B-B14F-4D97-AF65-F5344CB8AC3E}">
        <p14:creationId xmlns:p14="http://schemas.microsoft.com/office/powerpoint/2010/main" val="2849687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2042AD-AF89-3FD9-A1E3-CA3BDBA24EE8}"/>
              </a:ext>
            </a:extLst>
          </p:cNvPr>
          <p:cNvSpPr txBox="1"/>
          <p:nvPr/>
        </p:nvSpPr>
        <p:spPr>
          <a:xfrm>
            <a:off x="255639" y="458343"/>
            <a:ext cx="10957367"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4.How have global emissions changed year over year?</a:t>
            </a:r>
            <a:endParaRPr lang="en-IN" sz="2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92A69A3-90EB-C2C7-41AE-0BDB43D60025}"/>
              </a:ext>
            </a:extLst>
          </p:cNvPr>
          <p:cNvPicPr>
            <a:picLocks noChangeAspect="1"/>
          </p:cNvPicPr>
          <p:nvPr/>
        </p:nvPicPr>
        <p:blipFill>
          <a:blip r:embed="rId2"/>
          <a:stretch>
            <a:fillRect/>
          </a:stretch>
        </p:blipFill>
        <p:spPr>
          <a:xfrm>
            <a:off x="599768" y="1693969"/>
            <a:ext cx="5496232" cy="3131339"/>
          </a:xfrm>
          <a:prstGeom prst="rect">
            <a:avLst/>
          </a:prstGeom>
        </p:spPr>
      </p:pic>
      <p:pic>
        <p:nvPicPr>
          <p:cNvPr id="6" name="Picture 5">
            <a:extLst>
              <a:ext uri="{FF2B5EF4-FFF2-40B4-BE49-F238E27FC236}">
                <a16:creationId xmlns:a16="http://schemas.microsoft.com/office/drawing/2014/main" id="{5D319760-E78B-B5CE-0F3C-A9CE34D8C08A}"/>
              </a:ext>
            </a:extLst>
          </p:cNvPr>
          <p:cNvPicPr>
            <a:picLocks noChangeAspect="1"/>
          </p:cNvPicPr>
          <p:nvPr/>
        </p:nvPicPr>
        <p:blipFill>
          <a:blip r:embed="rId3"/>
          <a:stretch>
            <a:fillRect/>
          </a:stretch>
        </p:blipFill>
        <p:spPr>
          <a:xfrm>
            <a:off x="7826477" y="1961771"/>
            <a:ext cx="3549446" cy="3131339"/>
          </a:xfrm>
          <a:prstGeom prst="rect">
            <a:avLst/>
          </a:prstGeom>
        </p:spPr>
      </p:pic>
    </p:spTree>
    <p:extLst>
      <p:ext uri="{BB962C8B-B14F-4D97-AF65-F5344CB8AC3E}">
        <p14:creationId xmlns:p14="http://schemas.microsoft.com/office/powerpoint/2010/main" val="1098442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0F7FA-7602-E668-9A71-E87097C0EF8A}"/>
              </a:ext>
            </a:extLst>
          </p:cNvPr>
          <p:cNvSpPr txBox="1"/>
          <p:nvPr/>
        </p:nvSpPr>
        <p:spPr>
          <a:xfrm>
            <a:off x="265471" y="400664"/>
            <a:ext cx="10979822"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5.How has population growth affected total emissions in each country?</a:t>
            </a:r>
            <a:endParaRPr lang="en-IN" sz="2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50EA8C2-F34D-D547-B66A-C9E912C60FB1}"/>
              </a:ext>
            </a:extLst>
          </p:cNvPr>
          <p:cNvPicPr>
            <a:picLocks noChangeAspect="1"/>
          </p:cNvPicPr>
          <p:nvPr/>
        </p:nvPicPr>
        <p:blipFill>
          <a:blip r:embed="rId2"/>
          <a:stretch>
            <a:fillRect/>
          </a:stretch>
        </p:blipFill>
        <p:spPr>
          <a:xfrm>
            <a:off x="855407" y="2060763"/>
            <a:ext cx="4424516" cy="3238824"/>
          </a:xfrm>
          <a:prstGeom prst="rect">
            <a:avLst/>
          </a:prstGeom>
        </p:spPr>
      </p:pic>
      <p:pic>
        <p:nvPicPr>
          <p:cNvPr id="6" name="Picture 5">
            <a:extLst>
              <a:ext uri="{FF2B5EF4-FFF2-40B4-BE49-F238E27FC236}">
                <a16:creationId xmlns:a16="http://schemas.microsoft.com/office/drawing/2014/main" id="{898C8757-83FF-6044-FA25-5C32CD6C70F6}"/>
              </a:ext>
            </a:extLst>
          </p:cNvPr>
          <p:cNvPicPr>
            <a:picLocks noChangeAspect="1"/>
          </p:cNvPicPr>
          <p:nvPr/>
        </p:nvPicPr>
        <p:blipFill>
          <a:blip r:embed="rId3"/>
          <a:stretch>
            <a:fillRect/>
          </a:stretch>
        </p:blipFill>
        <p:spPr>
          <a:xfrm>
            <a:off x="6371303" y="1627238"/>
            <a:ext cx="5191431" cy="4252452"/>
          </a:xfrm>
          <a:prstGeom prst="rect">
            <a:avLst/>
          </a:prstGeom>
        </p:spPr>
      </p:pic>
    </p:spTree>
    <p:extLst>
      <p:ext uri="{BB962C8B-B14F-4D97-AF65-F5344CB8AC3E}">
        <p14:creationId xmlns:p14="http://schemas.microsoft.com/office/powerpoint/2010/main" val="190123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667D77-3DC3-53DB-3DFD-552C90E7D9DB}"/>
              </a:ext>
            </a:extLst>
          </p:cNvPr>
          <p:cNvPicPr>
            <a:picLocks noChangeAspect="1"/>
          </p:cNvPicPr>
          <p:nvPr/>
        </p:nvPicPr>
        <p:blipFill>
          <a:blip r:embed="rId2"/>
          <a:stretch>
            <a:fillRect/>
          </a:stretch>
        </p:blipFill>
        <p:spPr>
          <a:xfrm>
            <a:off x="811760" y="1846854"/>
            <a:ext cx="4910614" cy="3164290"/>
          </a:xfrm>
          <a:prstGeom prst="rect">
            <a:avLst/>
          </a:prstGeom>
        </p:spPr>
      </p:pic>
      <p:sp>
        <p:nvSpPr>
          <p:cNvPr id="7" name="TextBox 6">
            <a:extLst>
              <a:ext uri="{FF2B5EF4-FFF2-40B4-BE49-F238E27FC236}">
                <a16:creationId xmlns:a16="http://schemas.microsoft.com/office/drawing/2014/main" id="{80B973F3-4AA0-6DCC-58FD-1CFF189E14B5}"/>
              </a:ext>
            </a:extLst>
          </p:cNvPr>
          <p:cNvSpPr txBox="1"/>
          <p:nvPr/>
        </p:nvSpPr>
        <p:spPr>
          <a:xfrm>
            <a:off x="197744" y="503619"/>
            <a:ext cx="6655339" cy="707886"/>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6.What is the emission-to-GDP ratio for each country by year?</a:t>
            </a:r>
          </a:p>
        </p:txBody>
      </p:sp>
      <p:pic>
        <p:nvPicPr>
          <p:cNvPr id="9" name="Picture 8">
            <a:extLst>
              <a:ext uri="{FF2B5EF4-FFF2-40B4-BE49-F238E27FC236}">
                <a16:creationId xmlns:a16="http://schemas.microsoft.com/office/drawing/2014/main" id="{8A0E7594-D421-D324-2B36-91B639927698}"/>
              </a:ext>
            </a:extLst>
          </p:cNvPr>
          <p:cNvPicPr>
            <a:picLocks noChangeAspect="1"/>
          </p:cNvPicPr>
          <p:nvPr/>
        </p:nvPicPr>
        <p:blipFill>
          <a:blip r:embed="rId3"/>
          <a:stretch>
            <a:fillRect/>
          </a:stretch>
        </p:blipFill>
        <p:spPr>
          <a:xfrm>
            <a:off x="7021332" y="1402174"/>
            <a:ext cx="4048690" cy="4053651"/>
          </a:xfrm>
          <a:prstGeom prst="rect">
            <a:avLst/>
          </a:prstGeom>
        </p:spPr>
      </p:pic>
    </p:spTree>
    <p:extLst>
      <p:ext uri="{BB962C8B-B14F-4D97-AF65-F5344CB8AC3E}">
        <p14:creationId xmlns:p14="http://schemas.microsoft.com/office/powerpoint/2010/main" val="1145809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A320B24-70D1-B527-393E-171789563837}"/>
              </a:ext>
            </a:extLst>
          </p:cNvPr>
          <p:cNvPicPr>
            <a:picLocks noChangeAspect="1"/>
          </p:cNvPicPr>
          <p:nvPr/>
        </p:nvPicPr>
        <p:blipFill>
          <a:blip r:embed="rId2"/>
          <a:stretch>
            <a:fillRect/>
          </a:stretch>
        </p:blipFill>
        <p:spPr>
          <a:xfrm>
            <a:off x="412955" y="1732935"/>
            <a:ext cx="5466735" cy="3392129"/>
          </a:xfrm>
          <a:prstGeom prst="rect">
            <a:avLst/>
          </a:prstGeom>
        </p:spPr>
      </p:pic>
      <p:sp>
        <p:nvSpPr>
          <p:cNvPr id="7" name="TextBox 6">
            <a:extLst>
              <a:ext uri="{FF2B5EF4-FFF2-40B4-BE49-F238E27FC236}">
                <a16:creationId xmlns:a16="http://schemas.microsoft.com/office/drawing/2014/main" id="{0FDB7053-F702-E585-0236-D8517A722512}"/>
              </a:ext>
            </a:extLst>
          </p:cNvPr>
          <p:cNvSpPr txBox="1"/>
          <p:nvPr/>
        </p:nvSpPr>
        <p:spPr>
          <a:xfrm>
            <a:off x="98323" y="496566"/>
            <a:ext cx="6096000" cy="707886"/>
          </a:xfrm>
          <a:prstGeom prst="rect">
            <a:avLst/>
          </a:prstGeom>
          <a:noFill/>
        </p:spPr>
        <p:txBody>
          <a:bodyPr wrap="square">
            <a:spAutoFit/>
          </a:bodyPr>
          <a:lstStyle/>
          <a:p>
            <a:r>
              <a:rPr lang="en-IN" sz="2000" b="1" dirty="0"/>
              <a:t> </a:t>
            </a:r>
            <a:r>
              <a:rPr lang="en-IN" sz="2000" b="1" dirty="0">
                <a:latin typeface="Times New Roman" panose="02020603050405020304" pitchFamily="18" charset="0"/>
                <a:cs typeface="Times New Roman" panose="02020603050405020304" pitchFamily="18" charset="0"/>
              </a:rPr>
              <a:t>7</a:t>
            </a:r>
            <a:r>
              <a:rPr lang="en-IN" sz="2000" b="1" dirty="0"/>
              <a:t>.</a:t>
            </a:r>
            <a:r>
              <a:rPr lang="en-IN" sz="2000" b="1" dirty="0">
                <a:latin typeface="Times New Roman" panose="02020603050405020304" pitchFamily="18" charset="0"/>
                <a:cs typeface="Times New Roman" panose="02020603050405020304" pitchFamily="18" charset="0"/>
              </a:rPr>
              <a:t>How does energy production per capita vary across countries?</a:t>
            </a:r>
          </a:p>
        </p:txBody>
      </p:sp>
      <p:pic>
        <p:nvPicPr>
          <p:cNvPr id="11" name="Picture 10">
            <a:extLst>
              <a:ext uri="{FF2B5EF4-FFF2-40B4-BE49-F238E27FC236}">
                <a16:creationId xmlns:a16="http://schemas.microsoft.com/office/drawing/2014/main" id="{8D01566A-1135-37FE-49E5-5AB66C34E910}"/>
              </a:ext>
            </a:extLst>
          </p:cNvPr>
          <p:cNvPicPr>
            <a:picLocks noChangeAspect="1"/>
          </p:cNvPicPr>
          <p:nvPr/>
        </p:nvPicPr>
        <p:blipFill>
          <a:blip r:embed="rId3"/>
          <a:stretch>
            <a:fillRect/>
          </a:stretch>
        </p:blipFill>
        <p:spPr>
          <a:xfrm>
            <a:off x="6617110" y="2042961"/>
            <a:ext cx="4876800" cy="2804342"/>
          </a:xfrm>
          <a:prstGeom prst="rect">
            <a:avLst/>
          </a:prstGeom>
        </p:spPr>
      </p:pic>
    </p:spTree>
    <p:extLst>
      <p:ext uri="{BB962C8B-B14F-4D97-AF65-F5344CB8AC3E}">
        <p14:creationId xmlns:p14="http://schemas.microsoft.com/office/powerpoint/2010/main" val="3885804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62F5AB-97BE-B7F7-CCE2-311099EC7D81}"/>
              </a:ext>
            </a:extLst>
          </p:cNvPr>
          <p:cNvPicPr>
            <a:picLocks noChangeAspect="1"/>
          </p:cNvPicPr>
          <p:nvPr/>
        </p:nvPicPr>
        <p:blipFill>
          <a:blip r:embed="rId2"/>
          <a:stretch>
            <a:fillRect/>
          </a:stretch>
        </p:blipFill>
        <p:spPr>
          <a:xfrm>
            <a:off x="491614" y="1563329"/>
            <a:ext cx="4850834" cy="3529781"/>
          </a:xfrm>
          <a:prstGeom prst="rect">
            <a:avLst/>
          </a:prstGeom>
        </p:spPr>
      </p:pic>
      <p:pic>
        <p:nvPicPr>
          <p:cNvPr id="5" name="Picture 4">
            <a:extLst>
              <a:ext uri="{FF2B5EF4-FFF2-40B4-BE49-F238E27FC236}">
                <a16:creationId xmlns:a16="http://schemas.microsoft.com/office/drawing/2014/main" id="{1DF40F27-8111-1ADD-5F86-2AE75D40BF8B}"/>
              </a:ext>
            </a:extLst>
          </p:cNvPr>
          <p:cNvPicPr>
            <a:picLocks noChangeAspect="1"/>
          </p:cNvPicPr>
          <p:nvPr/>
        </p:nvPicPr>
        <p:blipFill>
          <a:blip r:embed="rId3"/>
          <a:stretch>
            <a:fillRect/>
          </a:stretch>
        </p:blipFill>
        <p:spPr>
          <a:xfrm>
            <a:off x="6577781" y="1531374"/>
            <a:ext cx="4630993" cy="3362633"/>
          </a:xfrm>
          <a:prstGeom prst="rect">
            <a:avLst/>
          </a:prstGeom>
        </p:spPr>
      </p:pic>
      <p:sp>
        <p:nvSpPr>
          <p:cNvPr id="7" name="TextBox 6">
            <a:extLst>
              <a:ext uri="{FF2B5EF4-FFF2-40B4-BE49-F238E27FC236}">
                <a16:creationId xmlns:a16="http://schemas.microsoft.com/office/drawing/2014/main" id="{7336FCA8-2DDE-C0F5-8985-94EF43D72FD2}"/>
              </a:ext>
            </a:extLst>
          </p:cNvPr>
          <p:cNvSpPr txBox="1"/>
          <p:nvPr/>
        </p:nvSpPr>
        <p:spPr>
          <a:xfrm>
            <a:off x="491613" y="554467"/>
            <a:ext cx="9851922"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8.What are the top 10 countries by population and how do their emissions compare?</a:t>
            </a:r>
          </a:p>
        </p:txBody>
      </p:sp>
    </p:spTree>
    <p:extLst>
      <p:ext uri="{BB962C8B-B14F-4D97-AF65-F5344CB8AC3E}">
        <p14:creationId xmlns:p14="http://schemas.microsoft.com/office/powerpoint/2010/main" val="702979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D829E-C20F-C86F-D80F-B99152ECE8AE}"/>
              </a:ext>
            </a:extLst>
          </p:cNvPr>
          <p:cNvSpPr>
            <a:spLocks noGrp="1"/>
          </p:cNvSpPr>
          <p:nvPr>
            <p:ph type="title"/>
          </p:nvPr>
        </p:nvSpPr>
        <p:spPr>
          <a:xfrm>
            <a:off x="199104" y="99654"/>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Key Insights</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49F7E7F2-CB54-D28E-0B22-89DD4ACCD2F4}"/>
              </a:ext>
            </a:extLst>
          </p:cNvPr>
          <p:cNvSpPr>
            <a:spLocks noGrp="1"/>
          </p:cNvSpPr>
          <p:nvPr>
            <p:ph type="body" idx="1"/>
          </p:nvPr>
        </p:nvSpPr>
        <p:spPr>
          <a:xfrm>
            <a:off x="0" y="1031927"/>
            <a:ext cx="11904407" cy="4351338"/>
          </a:xfrm>
        </p:spPr>
        <p:txBody>
          <a:bodyPr>
            <a:noAutofit/>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Energy consumption generally increases with GDP growth across major economies.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Countries with large populations contribute significantly to total global emissions.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Per-capita emissions are higher in developed countries compared to developing nations.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Global emissions show an overall upward trend over the years, with minor fluctuations.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Some countries produce more energy than they consume, indicating energy export strength.</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Emission-to-GDP ratio varies across countries, showing differences in energy efficiency and sustainability practices.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1510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2C106-1330-40BE-AF41-6CCA500ED68D}"/>
              </a:ext>
            </a:extLst>
          </p:cNvPr>
          <p:cNvSpPr>
            <a:spLocks noGrp="1"/>
          </p:cNvSpPr>
          <p:nvPr>
            <p:ph type="title"/>
          </p:nvPr>
        </p:nvSpPr>
        <p:spPr>
          <a:xfrm>
            <a:off x="0" y="18255"/>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 Recommendations</a:t>
            </a:r>
            <a:endParaRPr lang="en-IN" dirty="0"/>
          </a:p>
        </p:txBody>
      </p:sp>
      <p:sp>
        <p:nvSpPr>
          <p:cNvPr id="3" name="Text Placeholder 2">
            <a:extLst>
              <a:ext uri="{FF2B5EF4-FFF2-40B4-BE49-F238E27FC236}">
                <a16:creationId xmlns:a16="http://schemas.microsoft.com/office/drawing/2014/main" id="{893D2065-8EDA-EA8E-65F9-E15F560F66B7}"/>
              </a:ext>
            </a:extLst>
          </p:cNvPr>
          <p:cNvSpPr>
            <a:spLocks noGrp="1"/>
          </p:cNvSpPr>
          <p:nvPr>
            <p:ph type="body" idx="1"/>
          </p:nvPr>
        </p:nvSpPr>
        <p:spPr>
          <a:xfrm>
            <a:off x="0" y="1042219"/>
            <a:ext cx="11798709" cy="6073135"/>
          </a:xfrm>
        </p:spPr>
        <p:txBody>
          <a:bodyPr>
            <a:normAutofit/>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Increase investment in renewable energy sources such as solar, wind, and hydro to reduce dependence on fossil fuels.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Improve energy efficiency in industries and transportation to lower emissions without slowing economic growth.</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Promote policies that reduce the emission-to-GDP ratio through cleaner production technologies.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Encourage energy conservation programs in high-consumption economies.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Support developing countries in adopting sustainable energy infrastructure.</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Implement stricter emission regulations for high per-capita emission countries.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881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513CD9-7266-7AAF-FD1C-996C355E37E0}"/>
              </a:ext>
            </a:extLst>
          </p:cNvPr>
          <p:cNvSpPr>
            <a:spLocks noGrp="1"/>
          </p:cNvSpPr>
          <p:nvPr>
            <p:ph type="title"/>
          </p:nvPr>
        </p:nvSpPr>
        <p:spPr>
          <a:xfrm>
            <a:off x="395749" y="386070"/>
            <a:ext cx="10515600" cy="1325563"/>
          </a:xfrm>
        </p:spPr>
        <p:txBody>
          <a:bodyPr>
            <a:normAutofit/>
          </a:bodyPr>
          <a:lstStyle/>
          <a:p>
            <a:r>
              <a:rPr lang="en-US" b="1" dirty="0">
                <a:solidFill>
                  <a:srgbClr val="FF0000"/>
                </a:solidFill>
                <a:latin typeface="Times New Roman" panose="02020603050405020304" pitchFamily="18" charset="0"/>
                <a:cs typeface="Times New Roman" panose="02020603050405020304" pitchFamily="18" charset="0"/>
              </a:rPr>
              <a:t>Conclusion</a:t>
            </a:r>
            <a:br>
              <a:rPr lang="en-US"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6F329CA0-2F4D-5D86-F8CD-6E924263D458}"/>
              </a:ext>
            </a:extLst>
          </p:cNvPr>
          <p:cNvSpPr>
            <a:spLocks noGrp="1"/>
          </p:cNvSpPr>
          <p:nvPr>
            <p:ph type="body" idx="1"/>
          </p:nvPr>
        </p:nvSpPr>
        <p:spPr>
          <a:xfrm>
            <a:off x="550606" y="1502838"/>
            <a:ext cx="11029336" cy="4563665"/>
          </a:xfrm>
        </p:spPr>
        <p:txBody>
          <a:bodyPr>
            <a:normAutofit/>
          </a:bodyPr>
          <a:lstStyle/>
          <a:p>
            <a:pPr>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This project shows that when a country’s GDP and population increase, its energy consumption also increases. Higher energy use usually leads to higher carbon emissions.</a:t>
            </a:r>
          </a:p>
          <a:p>
            <a:pPr>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Some countries have very high emissions because they use more fossil fuels. Other countries manage to grow their economy while keeping emissions lower by using cleaner energy and better technology.</a:t>
            </a:r>
          </a:p>
          <a:p>
            <a:pPr>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Overall, economic growth is important, but it should happen in a way that does not harm the environment. Using renewable energy and improving energy efficiency can help countries grow in a more sustainable way.</a:t>
            </a:r>
          </a:p>
        </p:txBody>
      </p:sp>
    </p:spTree>
    <p:extLst>
      <p:ext uri="{BB962C8B-B14F-4D97-AF65-F5344CB8AC3E}">
        <p14:creationId xmlns:p14="http://schemas.microsoft.com/office/powerpoint/2010/main" val="36021543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0EA150-2669-144F-C759-EADBF152FE18}"/>
              </a:ext>
            </a:extLst>
          </p:cNvPr>
          <p:cNvSpPr txBox="1"/>
          <p:nvPr/>
        </p:nvSpPr>
        <p:spPr>
          <a:xfrm>
            <a:off x="4070555" y="2344493"/>
            <a:ext cx="3445174" cy="1569660"/>
          </a:xfrm>
          <a:prstGeom prst="rect">
            <a:avLst/>
          </a:prstGeom>
          <a:noFill/>
        </p:spPr>
        <p:txBody>
          <a:bodyPr wrap="none" rtlCol="0">
            <a:spAutoFit/>
          </a:bodyPr>
          <a:lstStyle/>
          <a:p>
            <a:r>
              <a:rPr lang="en-US" sz="9600" b="1" dirty="0">
                <a:solidFill>
                  <a:srgbClr val="FF0000"/>
                </a:solidFill>
                <a:latin typeface="Libre Baskerville" panose="02000000000000000000" pitchFamily="2" charset="0"/>
                <a:cs typeface="Times New Roman" panose="02020603050405020304" pitchFamily="18" charset="0"/>
              </a:rPr>
              <a:t>Q&amp;A</a:t>
            </a:r>
            <a:endParaRPr lang="en-IN" sz="9600" b="1" dirty="0">
              <a:solidFill>
                <a:srgbClr val="FF0000"/>
              </a:solidFill>
              <a:latin typeface="Libre Baskerville"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369981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3319</TotalTime>
  <Words>814</Words>
  <Application>Microsoft Office PowerPoint</Application>
  <PresentationFormat>Widescreen</PresentationFormat>
  <Paragraphs>83</Paragraphs>
  <Slides>20</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Courier New</vt:lpstr>
      <vt:lpstr>Libre Baskerville</vt:lpstr>
      <vt:lpstr>Arial</vt:lpstr>
      <vt:lpstr>Calibri</vt:lpstr>
      <vt:lpstr>Times New Roman</vt:lpstr>
      <vt:lpstr>Wingdings</vt:lpstr>
      <vt:lpstr>Office Theme</vt:lpstr>
      <vt:lpstr>PowerPoint Presentation</vt:lpstr>
      <vt:lpstr>Agenda</vt:lpstr>
      <vt:lpstr>Introduction</vt:lpstr>
      <vt:lpstr>Problem Statement:-</vt:lpstr>
      <vt:lpstr>Objective of the Project</vt:lpstr>
      <vt:lpstr>Database Schema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Insights</vt:lpstr>
      <vt:lpstr> Recommendations</vt:lpstr>
      <vt:lpstr>Conclusion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ROHITH REDDY</cp:lastModifiedBy>
  <cp:revision>13</cp:revision>
  <dcterms:created xsi:type="dcterms:W3CDTF">2021-02-16T05:19:01Z</dcterms:created>
  <dcterms:modified xsi:type="dcterms:W3CDTF">2026-02-14T06:51:46Z</dcterms:modified>
</cp:coreProperties>
</file>